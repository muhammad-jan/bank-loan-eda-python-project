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9CEF-B1C5-D3F8-3FAF-1A079AD9B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1B208-E930-F0A0-116E-1FD68AB0A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305DF-9EFB-E1F7-3851-8A1576B6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20602-7CEE-E14D-24B8-E719C940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64644-51F7-11C3-B03C-FEC93D75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76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1145-8903-0774-5EBC-0F7BCC9B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0B8D5-D3BE-57B3-8D3D-5BADBED04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FCFC6-E7D3-FA9E-67EF-8F3FB565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4B03C-EEDD-7207-418A-91A369C5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AC8D6-35A1-FE28-AAB6-1D3527A2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0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C2EC-450D-BC4E-15D5-91333941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77EC4-2671-C3B9-CD49-E8315C5AB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A828-971B-0999-36BF-AECF64D52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37E1E-962B-79CE-8FA8-C1BCF721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96C8-992E-5837-3A01-17AC1769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2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38A3-4916-9A28-2492-4D866B6B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8073-5F62-E9C2-1439-9256B641E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15A3C-50A0-1E4B-5A8D-4A6A8DB14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95FE3-E0A2-4498-D23C-BAB3B08F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9409C-43DA-7F1F-A94C-7DEE4ECE5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5D5DE-1920-9E17-E304-2336A121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8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4DD-CF7D-2786-84D2-2F9E8DB7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FEF56-5F12-113D-6AC8-185D9EA5A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817AC-34F0-511F-BB8F-2B7850B2F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DEA31-2D3D-576A-F466-B5536319F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494E0-BD7F-7127-239C-E7564A8FA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54EF8-4117-2937-ECBD-D179FC89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C268A-D9F8-70B4-18CC-D5ECCF95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DACF1-E400-A928-0B4B-7AE8F60C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9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1E78-5DA8-9251-1017-01D5BAE5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FEE0C2-E8C3-2C0E-D365-98769F17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A7D56-F5C6-EB1A-BEA5-F82EA779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5338D-634B-F035-C2C0-5A08660B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1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E0490-D377-60B5-E5FE-042DECBD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325E4-E733-23FE-C8B6-A4F4E58B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2390-BF81-A76E-E980-65BAE39F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77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209F-4843-49FE-5A84-FA1744B5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9913-99B0-7A70-448C-D539AD011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1E007-721E-D4C7-4383-3FE99CA21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C2405-F50C-04D3-98B3-AB1AD3C9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C9316-2B53-5012-35DA-171FFE8B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EEB46-81CF-651E-13CA-F7520BE0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1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C3E5-DCCB-2E8B-7B80-79FB9CC9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22354F-DBF2-7C4F-408C-4AC056F67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D619E-4FD7-DA49-4BD7-AC52E1882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39618-67A8-CEDE-14F5-03898DF0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2D6D7-07FE-8137-391E-EB4DC846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F9D18-4665-D58E-9DD1-F9BD8DC2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9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3AA1-E0E3-8E8E-9E57-3351CF75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1A5E3-B508-00FB-7921-875245F4E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08B78-D0DD-9190-0850-78705A48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2C4C-6810-EA13-78C2-BB7FA068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E92F8-8FFA-9541-001F-0629C617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54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B58F2-DF3D-50F9-512E-3BB73DC56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26BFF-208E-BCFC-DB94-8F66A5F29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A96E0-4639-F64F-8533-58DEE978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6718-B17C-0078-5155-2597D644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6D1F0-6B95-2FAB-E1C4-FAEE3C99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9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8BEE4B-C46F-2B6B-8171-2E9F64F0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0C3D7-88ED-F5D8-9AE9-6AF54D6E9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9468-BDEE-70F9-4E47-7DC2E7287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A20DA-866F-42B2-A7B0-9D2FA906BB12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0E165-7F5F-9CB3-1D10-DD8E4EEB0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766F-33C9-6F0D-3F4B-6CA88FE91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869E-56A0-49D3-BEE0-511B90EE7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3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C50BC-0C45-5D24-541D-0E6509975659}"/>
              </a:ext>
            </a:extLst>
          </p:cNvPr>
          <p:cNvSpPr txBox="1"/>
          <p:nvPr/>
        </p:nvSpPr>
        <p:spPr>
          <a:xfrm>
            <a:off x="123824" y="1693310"/>
            <a:ext cx="11953876" cy="4308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000" b="1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Performance Indicators (KPIs) Requirements:</a:t>
            </a:r>
            <a:endParaRPr lang="en-US" kern="100" dirty="0"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Loan Applications: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kern="100" dirty="0">
              <a:solidFill>
                <a:srgbClr val="0F111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Funded Amount: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Understanding the total amount of funds disbursed as loans is crucial. We also want to keep an eye on the MTD Total Funded Amount and </a:t>
            </a:r>
            <a:r>
              <a:rPr lang="en-US" sz="1600" kern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Month-over-Month (MoM) changes in this metric.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kern="100" dirty="0">
              <a:solidFill>
                <a:srgbClr val="0F111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Amount Received: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Tracking the total amount received from borrowers is essential for assessing the bank's cash flow and loan repayment. We should </a:t>
            </a:r>
            <a:r>
              <a:rPr lang="en-US" sz="1600" kern="0" dirty="0" err="1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Month-to-Date (MTD) Total Amount Received and observe the Month-over-Month (MoM) changes.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kern="100" dirty="0">
              <a:solidFill>
                <a:srgbClr val="0F111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Interest Rate: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kern="100" dirty="0">
              <a:solidFill>
                <a:srgbClr val="0F111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600" b="1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 Debt-to-Income Ratio (DTI):</a:t>
            </a:r>
            <a:r>
              <a:rPr lang="en-US" sz="1600" kern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Evaluating the average DTI for our borrowers helps us gauge their financial health. We need to compute the average DTI for all loans, MTD, and track Month-over-Month (MoM) fluctuations.</a:t>
            </a:r>
            <a:endParaRPr lang="en-US" kern="100" dirty="0">
              <a:solidFill>
                <a:srgbClr val="0F1115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227B1-24D6-E610-FD0C-A4A68367D94C}"/>
              </a:ext>
            </a:extLst>
          </p:cNvPr>
          <p:cNvSpPr txBox="1"/>
          <p:nvPr/>
        </p:nvSpPr>
        <p:spPr>
          <a:xfrm>
            <a:off x="123824" y="156061"/>
            <a:ext cx="5421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</a:rPr>
              <a:t>PROBLEM STATEMENT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D5958-123B-5742-1411-718BADC924B3}"/>
              </a:ext>
            </a:extLst>
          </p:cNvPr>
          <p:cNvSpPr txBox="1"/>
          <p:nvPr/>
        </p:nvSpPr>
        <p:spPr>
          <a:xfrm>
            <a:off x="123824" y="767093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DASHBOARD 1: SUMMARY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904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472D08F-9625-06C6-7695-8082DB5E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482" y="1056748"/>
            <a:ext cx="11724967" cy="5147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152352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Good Loan v Bad Loan KPI’s</a:t>
            </a:r>
            <a:endParaRPr lang="en-US" altLang="en-US" sz="24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rgbClr val="0F1115"/>
              </a:solidFill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Loan Status Grid View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Status.'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0B6633-E18A-D234-673F-09B8D549F9A6}"/>
              </a:ext>
            </a:extLst>
          </p:cNvPr>
          <p:cNvGraphicFramePr>
            <a:graphicFrameLocks noGrp="1"/>
          </p:cNvGraphicFramePr>
          <p:nvPr/>
        </p:nvGraphicFramePr>
        <p:xfrm>
          <a:off x="209551" y="1810545"/>
          <a:ext cx="10458450" cy="22852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0457">
                  <a:extLst>
                    <a:ext uri="{9D8B030D-6E8A-4147-A177-3AD203B41FA5}">
                      <a16:colId xmlns:a16="http://schemas.microsoft.com/office/drawing/2014/main" val="3682817488"/>
                    </a:ext>
                  </a:extLst>
                </a:gridCol>
                <a:gridCol w="6797993">
                  <a:extLst>
                    <a:ext uri="{9D8B030D-6E8A-4147-A177-3AD203B41FA5}">
                      <a16:colId xmlns:a16="http://schemas.microsoft.com/office/drawing/2014/main" val="1358752581"/>
                    </a:ext>
                  </a:extLst>
                </a:gridCol>
              </a:tblGrid>
              <a:tr h="457041">
                <a:tc>
                  <a:txBody>
                    <a:bodyPr/>
                    <a:lstStyle/>
                    <a:p>
                      <a:pPr marL="17145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Good Loan: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Bad Loan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27009"/>
                  </a:ext>
                </a:extLst>
              </a:tr>
              <a:tr h="457041">
                <a:tc>
                  <a:txBody>
                    <a:bodyPr/>
                    <a:lstStyle/>
                    <a:p>
                      <a:pPr marL="1143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1. Good Loan Application Percentage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1. Bad Loan Application Percentage</a:t>
                      </a:r>
                      <a:endParaRPr lang="en-US" sz="20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86015269"/>
                  </a:ext>
                </a:extLst>
              </a:tr>
              <a:tr h="457041">
                <a:tc>
                  <a:txBody>
                    <a:bodyPr/>
                    <a:lstStyle/>
                    <a:p>
                      <a:pPr marL="17145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2. Good Loan Applications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2. Bad Loan Applications</a:t>
                      </a:r>
                      <a:endParaRPr lang="en-US" sz="20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842264627"/>
                  </a:ext>
                </a:extLst>
              </a:tr>
              <a:tr h="457041">
                <a:tc>
                  <a:txBody>
                    <a:bodyPr/>
                    <a:lstStyle/>
                    <a:p>
                      <a:pPr marL="17145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3. Good Loan Funded Amount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3. Bad Loan Funded Amount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435450170"/>
                  </a:ext>
                </a:extLst>
              </a:tr>
              <a:tr h="457041">
                <a:tc>
                  <a:txBody>
                    <a:bodyPr/>
                    <a:lstStyle/>
                    <a:p>
                      <a:pPr marL="17145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4. Good Loan Total Received Amount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4. Bad Loan Total Received Amount</a:t>
                      </a:r>
                      <a:endParaRPr lang="en-US" sz="20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3683016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6326CB-291C-A56E-0339-00E0629882E9}"/>
              </a:ext>
            </a:extLst>
          </p:cNvPr>
          <p:cNvSpPr txBox="1"/>
          <p:nvPr/>
        </p:nvSpPr>
        <p:spPr>
          <a:xfrm>
            <a:off x="95250" y="137939"/>
            <a:ext cx="5421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</a:rPr>
              <a:t>PROBLEM STATEMENT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C7921-05A6-4933-5ACA-8FAD5F783870}"/>
              </a:ext>
            </a:extLst>
          </p:cNvPr>
          <p:cNvSpPr txBox="1"/>
          <p:nvPr/>
        </p:nvSpPr>
        <p:spPr>
          <a:xfrm>
            <a:off x="95250" y="748971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DASHBOARD 1: SUMMARY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0550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A96B33-B697-4B15-2148-DA0317271AEE}"/>
              </a:ext>
            </a:extLst>
          </p:cNvPr>
          <p:cNvSpPr txBox="1"/>
          <p:nvPr/>
        </p:nvSpPr>
        <p:spPr>
          <a:xfrm>
            <a:off x="228599" y="1395302"/>
            <a:ext cx="1183957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CHARTS</a:t>
            </a:r>
            <a:endParaRPr lang="en-US" sz="2800" b="1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Monthly Trends by Issue Date (Line Chart):</a:t>
            </a:r>
            <a:r>
              <a:rPr lang="en-US" sz="180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 To identify seasonality and long-term trends in lending activities</a:t>
            </a:r>
            <a:endParaRPr lang="en-US" sz="1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Regional Analysis by State (Filled Map):</a:t>
            </a:r>
            <a:r>
              <a:rPr lang="en-US" sz="180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 To identify regions with significant lending activity and assess regional disparities</a:t>
            </a:r>
            <a:endParaRPr lang="en-US" sz="1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Loan Term Analysis (Donut Chart):</a:t>
            </a:r>
            <a:r>
              <a:rPr lang="en-US" sz="180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 To allow the client to understand the distribution of loans across various term lengths.</a:t>
            </a:r>
            <a:endParaRPr lang="en-US" sz="1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Employee Length Analysis (Bar Chart):</a:t>
            </a:r>
            <a:r>
              <a:rPr lang="en-US" sz="180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 How lending metrics are distributed among borrowers with different employment lengths, helping us assess the impact of employment history on loan applications.</a:t>
            </a:r>
            <a:endParaRPr lang="en-US" sz="1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Loan Purpose Breakdown (Bar Chart):</a:t>
            </a:r>
            <a:r>
              <a:rPr lang="en-US" sz="180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 Will provide a visual breakdown of loan metrics based on the stated purposes of loans, aiding in the understanding of the primary reasons borrowers seek financing.</a:t>
            </a:r>
            <a:endParaRPr lang="en-US" sz="1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Home Ownership Analysis (Tree Map):</a:t>
            </a:r>
            <a:r>
              <a:rPr lang="en-US" sz="180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 For a hierarchical view of how home ownership impacts loan applications and disbursements.</a:t>
            </a:r>
            <a:endParaRPr lang="en-US" sz="1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1200"/>
              </a:spcBef>
              <a:spcAft>
                <a:spcPts val="0"/>
              </a:spcAft>
            </a:pPr>
            <a:r>
              <a:rPr lang="en-US" sz="1800" b="1" i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Metrics to be shown: 'Total Loan Applications,' 'Total Funded Amount,' and 'Total Amount Received'</a:t>
            </a:r>
            <a:endParaRPr lang="en-US" sz="1800" b="1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11C2A-2DB3-9B28-B6D4-9048B29C98C4}"/>
              </a:ext>
            </a:extLst>
          </p:cNvPr>
          <p:cNvSpPr txBox="1"/>
          <p:nvPr/>
        </p:nvSpPr>
        <p:spPr>
          <a:xfrm>
            <a:off x="228599" y="137939"/>
            <a:ext cx="5421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Inter" panose="020B0502030000000004" pitchFamily="34" charset="0"/>
                <a:ea typeface="Times New Roman" panose="02020603050405020304" pitchFamily="18" charset="0"/>
              </a:rPr>
              <a:t>PROBLEM STATEMENT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43A7D-7A36-25CF-A1F2-10A993C23192}"/>
              </a:ext>
            </a:extLst>
          </p:cNvPr>
          <p:cNvSpPr txBox="1"/>
          <p:nvPr/>
        </p:nvSpPr>
        <p:spPr>
          <a:xfrm>
            <a:off x="228599" y="748971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Inter" panose="020B0502030000000004" pitchFamily="34" charset="0"/>
                <a:ea typeface="Times New Roman" panose="02020603050405020304" pitchFamily="18" charset="0"/>
              </a:rPr>
              <a:t>DASHBOARD 2: OVERVIEW</a:t>
            </a:r>
            <a:endParaRPr lang="en-US" sz="3200" b="1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3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547</Words>
  <Application>Microsoft Office PowerPoint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Jan</dc:creator>
  <cp:lastModifiedBy>muhammed Jan</cp:lastModifiedBy>
  <cp:revision>1</cp:revision>
  <dcterms:created xsi:type="dcterms:W3CDTF">2025-09-27T20:57:16Z</dcterms:created>
  <dcterms:modified xsi:type="dcterms:W3CDTF">2025-09-27T20:58:17Z</dcterms:modified>
</cp:coreProperties>
</file>